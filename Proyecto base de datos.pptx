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</p:sldIdLst>
  <p:sldSz cx="18288000" cy="10287000"/>
  <p:notesSz cx="6858000" cy="9144000"/>
  <p:embeddedFontLst>
    <p:embeddedFont>
      <p:font typeface="Courier Prime" panose="020B0604020202020204" charset="0"/>
      <p:regular r:id="rId21"/>
    </p:embeddedFont>
    <p:embeddedFont>
      <p:font typeface="Courier Prime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22" autoAdjust="0"/>
  </p:normalViewPr>
  <p:slideViewPr>
    <p:cSldViewPr>
      <p:cViewPr>
        <p:scale>
          <a:sx n="45" d="100"/>
          <a:sy n="45" d="100"/>
        </p:scale>
        <p:origin x="864" y="7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-3294138" y="4385494"/>
            <a:ext cx="9650362" cy="0"/>
          </a:xfrm>
          <a:prstGeom prst="line">
            <a:avLst/>
          </a:prstGeom>
          <a:ln w="95250" cap="flat">
            <a:solidFill>
              <a:srgbClr val="2D2D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2537186" y="2704575"/>
            <a:ext cx="10718760" cy="2636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7"/>
              </a:lnSpc>
            </a:pPr>
            <a:r>
              <a:rPr lang="en-US" sz="912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Fábrica de</a:t>
            </a:r>
          </a:p>
          <a:p>
            <a:pPr algn="l">
              <a:lnSpc>
                <a:spcPts val="10397"/>
              </a:lnSpc>
            </a:pPr>
            <a:r>
              <a:rPr lang="en-US" sz="912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Juguetes {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15791" y="7091193"/>
            <a:ext cx="2471972" cy="1607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77"/>
              </a:lnSpc>
            </a:pPr>
            <a:r>
              <a:rPr lang="en-US" sz="10944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912" y="5790868"/>
            <a:ext cx="10747189" cy="787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45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&lt;Por="Alexander Rivas"&gt;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94891" y="1687047"/>
            <a:ext cx="11259224" cy="474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736">
                <a:solidFill>
                  <a:srgbClr val="8F8F8F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&lt;!--Bases de Datos--&gt;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762002" y="-102870"/>
            <a:ext cx="4230823" cy="10389870"/>
            <a:chOff x="0" y="0"/>
            <a:chExt cx="1543416" cy="37902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43416" cy="3790253"/>
            </a:xfrm>
            <a:custGeom>
              <a:avLst/>
              <a:gdLst/>
              <a:ahLst/>
              <a:cxnLst/>
              <a:rect l="l" t="t" r="r" b="b"/>
              <a:pathLst>
                <a:path w="1543416" h="3790253">
                  <a:moveTo>
                    <a:pt x="0" y="0"/>
                  </a:moveTo>
                  <a:lnTo>
                    <a:pt x="1543416" y="0"/>
                  </a:lnTo>
                  <a:lnTo>
                    <a:pt x="1543416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MX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578" y="-102870"/>
            <a:ext cx="9314578" cy="10389870"/>
            <a:chOff x="0" y="0"/>
            <a:chExt cx="3397983" cy="37902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7983" cy="3790253"/>
            </a:xfrm>
            <a:custGeom>
              <a:avLst/>
              <a:gdLst/>
              <a:ahLst/>
              <a:cxnLst/>
              <a:rect l="l" t="t" r="r" b="b"/>
              <a:pathLst>
                <a:path w="3397983" h="379025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5" name="Freeform 5"/>
          <p:cNvSpPr/>
          <p:nvPr/>
        </p:nvSpPr>
        <p:spPr>
          <a:xfrm>
            <a:off x="9990520" y="3466658"/>
            <a:ext cx="7799265" cy="3353684"/>
          </a:xfrm>
          <a:custGeom>
            <a:avLst/>
            <a:gdLst/>
            <a:ahLst/>
            <a:cxnLst/>
            <a:rect l="l" t="t" r="r" b="b"/>
            <a:pathLst>
              <a:path w="7799265" h="3353684">
                <a:moveTo>
                  <a:pt x="0" y="0"/>
                </a:moveTo>
                <a:lnTo>
                  <a:pt x="7799265" y="0"/>
                </a:lnTo>
                <a:lnTo>
                  <a:pt x="7799265" y="3353684"/>
                </a:lnTo>
                <a:lnTo>
                  <a:pt x="0" y="33536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TextBox 6"/>
          <p:cNvSpPr txBox="1"/>
          <p:nvPr/>
        </p:nvSpPr>
        <p:spPr>
          <a:xfrm>
            <a:off x="1028700" y="1057275"/>
            <a:ext cx="7031406" cy="118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3"/>
              </a:lnSpc>
            </a:pPr>
            <a:r>
              <a:rPr lang="en-US" sz="40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Definición del problema {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57135" y="867537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0111" y="2913888"/>
            <a:ext cx="6988679" cy="5239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7"/>
              </a:lnSpc>
            </a:pPr>
            <a:r>
              <a:rPr lang="en-US" sz="27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 cliente necesita controlar la gestión de su fábrica de juguetes. Requiere saber qué plantas intervienen en la creación de cada juguete y el proceso que se realiza en cada una. Además, necesita un seguimiento de qué máquina ejecuta cada proceso, qué técnico operario está asignado a ella y en qué horario.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040919"/>
            <a:ext cx="15328699" cy="7217381"/>
            <a:chOff x="0" y="0"/>
            <a:chExt cx="6526752" cy="30730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526753" cy="3073063"/>
            </a:xfrm>
            <a:custGeom>
              <a:avLst/>
              <a:gdLst/>
              <a:ahLst/>
              <a:cxnLst/>
              <a:rect l="l" t="t" r="r" b="b"/>
              <a:pathLst>
                <a:path w="6526753" h="3073063">
                  <a:moveTo>
                    <a:pt x="0" y="0"/>
                  </a:moveTo>
                  <a:lnTo>
                    <a:pt x="6526753" y="0"/>
                  </a:lnTo>
                  <a:lnTo>
                    <a:pt x="6526753" y="3073063"/>
                  </a:lnTo>
                  <a:lnTo>
                    <a:pt x="0" y="307306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540547" y="2423175"/>
            <a:ext cx="14305004" cy="6024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013"/>
              </a:lnSpc>
              <a:buFont typeface="Arial"/>
              <a:buChar char="•"/>
            </a:pPr>
            <a:r>
              <a:rPr lang="en-US" sz="2199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Gestor de la base de datos: Comencemos con la estructura básica de la fábrica. ¿Cómo está organizada físicamente? ¿Está dividida por áreas o secciones?</a:t>
            </a:r>
          </a:p>
          <a:p>
            <a:pPr marL="474978" lvl="1" indent="-237489" algn="l">
              <a:lnSpc>
                <a:spcPts val="3013"/>
              </a:lnSpc>
              <a:buFont typeface="Arial"/>
              <a:buChar char="•"/>
            </a:pPr>
            <a:r>
              <a:rPr lang="en-US" sz="2199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Cliente: Sí, la fábrica se divide en varias plantas. De cada planta, necesitamos registrar su nombre y su área en metros cuadrados. Este último dato es para planificar cuántas máquinas podemos ubicar en cada una.</a:t>
            </a:r>
          </a:p>
          <a:p>
            <a:pPr marL="474978" lvl="1" indent="-237489" algn="l">
              <a:lnSpc>
                <a:spcPts val="3013"/>
              </a:lnSpc>
              <a:buFont typeface="Arial"/>
              <a:buChar char="•"/>
            </a:pPr>
            <a:r>
              <a:rPr lang="en-US" sz="2199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Gestor de la base de datos: ¿Qué actividades se realizan en esas plantas?</a:t>
            </a:r>
          </a:p>
          <a:p>
            <a:pPr marL="474978" lvl="1" indent="-237489" algn="l">
              <a:lnSpc>
                <a:spcPts val="3013"/>
              </a:lnSpc>
              <a:buFont typeface="Arial"/>
              <a:buChar char="•"/>
            </a:pPr>
            <a:r>
              <a:rPr lang="en-US" sz="2199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Cliente: Cada planta se especializa en un único proceso de producción. Por ejemplo, una planta se dedica al "Moldeado de plástico", otra a la "Integración electrónica" y otra al "Ensamblaje y costura". Necesitamos registrar el nombre de cada proceso y asignarle un grado de complejidad.</a:t>
            </a:r>
          </a:p>
          <a:p>
            <a:pPr marL="474978" lvl="1" indent="-237489" algn="l">
              <a:lnSpc>
                <a:spcPts val="3013"/>
              </a:lnSpc>
              <a:buFont typeface="Arial"/>
              <a:buChar char="•"/>
            </a:pPr>
            <a:r>
              <a:rPr lang="en-US" sz="2199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Gestor de la base de datos: Perfecto, una planta, un proceso. Hablemos ahora de la maquinaria. ¿Qué datos necesitamos almacenar sobre las máquinas?</a:t>
            </a:r>
          </a:p>
          <a:p>
            <a:pPr marL="474978" lvl="1" indent="-237489" algn="l">
              <a:lnSpc>
                <a:spcPts val="3013"/>
              </a:lnSpc>
              <a:buFont typeface="Arial"/>
              <a:buChar char="•"/>
            </a:pPr>
            <a:r>
              <a:rPr lang="en-US" sz="2199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Cliente: De cada máquina, registraremos la marca y el modelo. Además, es crucial que cada máquina tenga un número de identificación único (un código de activo) que la identifique en toda la fábrica, sin importar en qué planta esté.</a:t>
            </a:r>
          </a:p>
          <a:p>
            <a:pPr algn="l">
              <a:lnSpc>
                <a:spcPts val="2466"/>
              </a:lnSpc>
            </a:pPr>
            <a:endParaRPr lang="en-US" sz="2199" b="1">
              <a:solidFill>
                <a:srgbClr val="FFFFFF"/>
              </a:solidFill>
              <a:latin typeface="Courier Prime Bold"/>
              <a:ea typeface="Courier Prime Bold"/>
              <a:cs typeface="Courier Prime Bold"/>
              <a:sym typeface="Courier Prime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047750"/>
            <a:ext cx="703140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Entrevista {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557135" y="867537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040919"/>
            <a:ext cx="15328699" cy="7217381"/>
            <a:chOff x="0" y="0"/>
            <a:chExt cx="6526752" cy="30730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526753" cy="3073063"/>
            </a:xfrm>
            <a:custGeom>
              <a:avLst/>
              <a:gdLst/>
              <a:ahLst/>
              <a:cxnLst/>
              <a:rect l="l" t="t" r="r" b="b"/>
              <a:pathLst>
                <a:path w="6526753" h="3073063">
                  <a:moveTo>
                    <a:pt x="0" y="0"/>
                  </a:moveTo>
                  <a:lnTo>
                    <a:pt x="6526753" y="0"/>
                  </a:lnTo>
                  <a:lnTo>
                    <a:pt x="6526753" y="3073063"/>
                  </a:lnTo>
                  <a:lnTo>
                    <a:pt x="0" y="307306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385811" y="2361958"/>
            <a:ext cx="14614478" cy="7093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6419" lvl="1" indent="-263210" algn="l">
              <a:lnSpc>
                <a:spcPts val="3340"/>
              </a:lnSpc>
              <a:buFont typeface="Arial"/>
              <a:buChar char="•"/>
            </a:pPr>
            <a:r>
              <a:rPr lang="en-US" sz="243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Gestor de la base de datos: ¿Necesitamos guardar información sobre el personal?</a:t>
            </a:r>
          </a:p>
          <a:p>
            <a:pPr marL="526419" lvl="1" indent="-263210" algn="l">
              <a:lnSpc>
                <a:spcPts val="3340"/>
              </a:lnSpc>
              <a:buFont typeface="Arial"/>
              <a:buChar char="•"/>
            </a:pPr>
            <a:r>
              <a:rPr lang="en-US" sz="243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Cliente: Sí, de los técnicos operarios. De cada técnico, necesitamos almacenar sus datos identificativos: número de trabajador, nombre, apellidos y fecha de nacimiento. También requerimos sus teléfonos de contacto (pueden ser varios). Además de sus datos fijos, necesitamos un registro de asignaciones. Debemos poder consultar qué técnico estuvo asignado a qué máquina específica, detallando el rango de fechas de esa asignación y el turno en el que trabajaba.</a:t>
            </a:r>
          </a:p>
          <a:p>
            <a:pPr marL="526419" lvl="1" indent="-263210" algn="l">
              <a:lnSpc>
                <a:spcPts val="3340"/>
              </a:lnSpc>
              <a:buFont typeface="Arial"/>
              <a:buChar char="•"/>
            </a:pPr>
            <a:r>
              <a:rPr lang="en-US" sz="243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Gestor de la base de datos: Perfecto, un historial de asignación. Finalmente, ¿qué necesitamos saber sobre cada tipo de juguete?</a:t>
            </a:r>
          </a:p>
          <a:p>
            <a:pPr marL="526419" lvl="1" indent="-263210" algn="l">
              <a:lnSpc>
                <a:spcPts val="3340"/>
              </a:lnSpc>
              <a:buFont typeface="Arial"/>
              <a:buChar char="•"/>
            </a:pPr>
            <a:r>
              <a:rPr lang="en-US" sz="2438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Cliente: De cada modelo de juguete, necesitamos dos cosas clave. Primero, su ruta de fabricación, es decir, poder consultar qué plantas intervinieron en su creación. Segundo, su catalogación: cada juguete tendrá un identificador único o modelo (ej: "León-01") y pertenecerá a un tipo (ej: "Peluche").</a:t>
            </a:r>
          </a:p>
          <a:p>
            <a:pPr algn="l">
              <a:lnSpc>
                <a:spcPts val="2733"/>
              </a:lnSpc>
            </a:pPr>
            <a:endParaRPr lang="en-US" sz="2438" b="1">
              <a:solidFill>
                <a:srgbClr val="FFFFFF"/>
              </a:solidFill>
              <a:latin typeface="Courier Prime Bold"/>
              <a:ea typeface="Courier Prime Bold"/>
              <a:cs typeface="Courier Prime Bold"/>
              <a:sym typeface="Courier Prime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047750"/>
            <a:ext cx="703140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Entrevista {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557135" y="867537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39638" y="-102870"/>
            <a:ext cx="13618939" cy="10389870"/>
            <a:chOff x="0" y="0"/>
            <a:chExt cx="4968226" cy="37902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68226" cy="3790253"/>
            </a:xfrm>
            <a:custGeom>
              <a:avLst/>
              <a:gdLst/>
              <a:ahLst/>
              <a:cxnLst/>
              <a:rect l="l" t="t" r="r" b="b"/>
              <a:pathLst>
                <a:path w="4968226" h="3790253">
                  <a:moveTo>
                    <a:pt x="0" y="0"/>
                  </a:moveTo>
                  <a:lnTo>
                    <a:pt x="4968226" y="0"/>
                  </a:lnTo>
                  <a:lnTo>
                    <a:pt x="4968226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4" name="Freeform 4"/>
          <p:cNvSpPr/>
          <p:nvPr/>
        </p:nvSpPr>
        <p:spPr>
          <a:xfrm>
            <a:off x="3552517" y="367886"/>
            <a:ext cx="13355701" cy="9551228"/>
          </a:xfrm>
          <a:custGeom>
            <a:avLst/>
            <a:gdLst/>
            <a:ahLst/>
            <a:cxnLst/>
            <a:rect l="l" t="t" r="r" b="b"/>
            <a:pathLst>
              <a:path w="13355701" h="9551228">
                <a:moveTo>
                  <a:pt x="0" y="0"/>
                </a:moveTo>
                <a:lnTo>
                  <a:pt x="13355701" y="0"/>
                </a:lnTo>
                <a:lnTo>
                  <a:pt x="13355701" y="9551228"/>
                </a:lnTo>
                <a:lnTo>
                  <a:pt x="0" y="95512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1028700" y="1047750"/>
            <a:ext cx="703140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MEER {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908218" y="897636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7618" y="2279859"/>
            <a:ext cx="16581682" cy="6658417"/>
          </a:xfrm>
          <a:custGeom>
            <a:avLst/>
            <a:gdLst/>
            <a:ahLst/>
            <a:cxnLst/>
            <a:rect l="l" t="t" r="r" b="b"/>
            <a:pathLst>
              <a:path w="16581682" h="6658417">
                <a:moveTo>
                  <a:pt x="0" y="0"/>
                </a:moveTo>
                <a:lnTo>
                  <a:pt x="16581682" y="0"/>
                </a:lnTo>
                <a:lnTo>
                  <a:pt x="16581682" y="6658417"/>
                </a:lnTo>
                <a:lnTo>
                  <a:pt x="0" y="6658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028700" y="1047750"/>
            <a:ext cx="703140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Modelo Relacional {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050401" y="9118543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5" name="TextBox 5"/>
          <p:cNvSpPr txBox="1"/>
          <p:nvPr/>
        </p:nvSpPr>
        <p:spPr>
          <a:xfrm rot="-10800000">
            <a:off x="4607852" y="4991604"/>
            <a:ext cx="304692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9202" y="2237884"/>
            <a:ext cx="8690934" cy="6863148"/>
            <a:chOff x="0" y="0"/>
            <a:chExt cx="3453011" cy="27268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53011" cy="2726810"/>
            </a:xfrm>
            <a:custGeom>
              <a:avLst/>
              <a:gdLst/>
              <a:ahLst/>
              <a:cxnLst/>
              <a:rect l="l" t="t" r="r" b="b"/>
              <a:pathLst>
                <a:path w="3453011" h="2726810">
                  <a:moveTo>
                    <a:pt x="0" y="0"/>
                  </a:moveTo>
                  <a:lnTo>
                    <a:pt x="3453011" y="0"/>
                  </a:lnTo>
                  <a:lnTo>
                    <a:pt x="3453011" y="2726810"/>
                  </a:lnTo>
                  <a:lnTo>
                    <a:pt x="0" y="2726810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942906" y="2344522"/>
            <a:ext cx="7667477" cy="6649873"/>
            <a:chOff x="0" y="0"/>
            <a:chExt cx="3264708" cy="28314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64708" cy="2831426"/>
            </a:xfrm>
            <a:custGeom>
              <a:avLst/>
              <a:gdLst/>
              <a:ahLst/>
              <a:cxnLst/>
              <a:rect l="l" t="t" r="r" b="b"/>
              <a:pathLst>
                <a:path w="3264708" h="2831426">
                  <a:moveTo>
                    <a:pt x="0" y="0"/>
                  </a:moveTo>
                  <a:lnTo>
                    <a:pt x="3264708" y="0"/>
                  </a:lnTo>
                  <a:lnTo>
                    <a:pt x="3264708" y="2831426"/>
                  </a:lnTo>
                  <a:lnTo>
                    <a:pt x="0" y="2831426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3239149"/>
            <a:ext cx="8115300" cy="5082167"/>
          </a:xfrm>
          <a:custGeom>
            <a:avLst/>
            <a:gdLst/>
            <a:ahLst/>
            <a:cxnLst/>
            <a:rect l="l" t="t" r="r" b="b"/>
            <a:pathLst>
              <a:path w="8115300" h="5082167">
                <a:moveTo>
                  <a:pt x="0" y="0"/>
                </a:moveTo>
                <a:lnTo>
                  <a:pt x="8115300" y="0"/>
                </a:lnTo>
                <a:lnTo>
                  <a:pt x="8115300" y="5082167"/>
                </a:lnTo>
                <a:lnTo>
                  <a:pt x="0" y="5082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873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Freeform 7"/>
          <p:cNvSpPr/>
          <p:nvPr/>
        </p:nvSpPr>
        <p:spPr>
          <a:xfrm>
            <a:off x="10468201" y="3041011"/>
            <a:ext cx="6616886" cy="5256894"/>
          </a:xfrm>
          <a:custGeom>
            <a:avLst/>
            <a:gdLst/>
            <a:ahLst/>
            <a:cxnLst/>
            <a:rect l="l" t="t" r="r" b="b"/>
            <a:pathLst>
              <a:path w="6616886" h="5256894">
                <a:moveTo>
                  <a:pt x="0" y="0"/>
                </a:moveTo>
                <a:lnTo>
                  <a:pt x="6616886" y="0"/>
                </a:lnTo>
                <a:lnTo>
                  <a:pt x="6616886" y="5256894"/>
                </a:lnTo>
                <a:lnTo>
                  <a:pt x="0" y="5256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TextBox 8"/>
          <p:cNvSpPr txBox="1"/>
          <p:nvPr/>
        </p:nvSpPr>
        <p:spPr>
          <a:xfrm>
            <a:off x="1028700" y="1047750"/>
            <a:ext cx="703140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DDL {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120082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5196" y="2006534"/>
            <a:ext cx="7886640" cy="7376433"/>
            <a:chOff x="0" y="0"/>
            <a:chExt cx="2824818" cy="26420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24818" cy="2642074"/>
            </a:xfrm>
            <a:custGeom>
              <a:avLst/>
              <a:gdLst/>
              <a:ahLst/>
              <a:cxnLst/>
              <a:rect l="l" t="t" r="r" b="b"/>
              <a:pathLst>
                <a:path w="2824818" h="2642074">
                  <a:moveTo>
                    <a:pt x="0" y="0"/>
                  </a:moveTo>
                  <a:lnTo>
                    <a:pt x="2824818" y="0"/>
                  </a:lnTo>
                  <a:lnTo>
                    <a:pt x="2824818" y="2642074"/>
                  </a:lnTo>
                  <a:lnTo>
                    <a:pt x="0" y="2642074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4" name="Freeform 4"/>
          <p:cNvSpPr/>
          <p:nvPr/>
        </p:nvSpPr>
        <p:spPr>
          <a:xfrm>
            <a:off x="1272796" y="2232248"/>
            <a:ext cx="6925004" cy="6925004"/>
          </a:xfrm>
          <a:custGeom>
            <a:avLst/>
            <a:gdLst/>
            <a:ahLst/>
            <a:cxnLst/>
            <a:rect l="l" t="t" r="r" b="b"/>
            <a:pathLst>
              <a:path w="6925004" h="6925004">
                <a:moveTo>
                  <a:pt x="0" y="0"/>
                </a:moveTo>
                <a:lnTo>
                  <a:pt x="6925004" y="0"/>
                </a:lnTo>
                <a:lnTo>
                  <a:pt x="6925004" y="6925005"/>
                </a:lnTo>
                <a:lnTo>
                  <a:pt x="0" y="6925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5" name="Group 5"/>
          <p:cNvGrpSpPr/>
          <p:nvPr/>
        </p:nvGrpSpPr>
        <p:grpSpPr>
          <a:xfrm>
            <a:off x="9144000" y="3272517"/>
            <a:ext cx="8663495" cy="2809756"/>
            <a:chOff x="0" y="0"/>
            <a:chExt cx="3264708" cy="10588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64708" cy="1058814"/>
            </a:xfrm>
            <a:custGeom>
              <a:avLst/>
              <a:gdLst/>
              <a:ahLst/>
              <a:cxnLst/>
              <a:rect l="l" t="t" r="r" b="b"/>
              <a:pathLst>
                <a:path w="3264708" h="1058814">
                  <a:moveTo>
                    <a:pt x="0" y="0"/>
                  </a:moveTo>
                  <a:lnTo>
                    <a:pt x="3264708" y="0"/>
                  </a:lnTo>
                  <a:lnTo>
                    <a:pt x="3264708" y="1058814"/>
                  </a:lnTo>
                  <a:lnTo>
                    <a:pt x="0" y="1058814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7" name="Freeform 7"/>
          <p:cNvSpPr/>
          <p:nvPr/>
        </p:nvSpPr>
        <p:spPr>
          <a:xfrm>
            <a:off x="9393722" y="3646683"/>
            <a:ext cx="8164050" cy="2061423"/>
          </a:xfrm>
          <a:custGeom>
            <a:avLst/>
            <a:gdLst/>
            <a:ahLst/>
            <a:cxnLst/>
            <a:rect l="l" t="t" r="r" b="b"/>
            <a:pathLst>
              <a:path w="8164050" h="2061423">
                <a:moveTo>
                  <a:pt x="0" y="0"/>
                </a:moveTo>
                <a:lnTo>
                  <a:pt x="8164050" y="0"/>
                </a:lnTo>
                <a:lnTo>
                  <a:pt x="8164050" y="2061423"/>
                </a:lnTo>
                <a:lnTo>
                  <a:pt x="0" y="20614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TextBox 8"/>
          <p:cNvSpPr txBox="1"/>
          <p:nvPr/>
        </p:nvSpPr>
        <p:spPr>
          <a:xfrm>
            <a:off x="1028700" y="1047750"/>
            <a:ext cx="703140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DDL {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41835" y="9402017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2251298"/>
            <a:ext cx="703140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DML {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844661" y="7775284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47750"/>
            <a:ext cx="703140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Tecnologías usadas {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557135" y="867537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672762" y="2784906"/>
            <a:ext cx="389687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MySQL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72762" y="3580979"/>
            <a:ext cx="488437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Stack LAMP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72762" y="6020004"/>
            <a:ext cx="467081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InfinityFree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672762" y="6776289"/>
            <a:ext cx="488437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Uso directo de MySQL + PHP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672762" y="4422349"/>
            <a:ext cx="431784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PHP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72762" y="5178634"/>
            <a:ext cx="4884373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Logica directa</a:t>
            </a:r>
          </a:p>
        </p:txBody>
      </p:sp>
      <p:sp>
        <p:nvSpPr>
          <p:cNvPr id="10" name="AutoShape 10"/>
          <p:cNvSpPr/>
          <p:nvPr/>
        </p:nvSpPr>
        <p:spPr>
          <a:xfrm rot="5400000">
            <a:off x="5951747" y="4385494"/>
            <a:ext cx="9650362" cy="0"/>
          </a:xfrm>
          <a:prstGeom prst="line">
            <a:avLst/>
          </a:prstGeom>
          <a:ln w="95250" cap="flat">
            <a:solidFill>
              <a:srgbClr val="2D2D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Box 11"/>
          <p:cNvSpPr txBox="1"/>
          <p:nvPr/>
        </p:nvSpPr>
        <p:spPr>
          <a:xfrm>
            <a:off x="1028700" y="2513456"/>
            <a:ext cx="8372207" cy="5886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0"/>
              </a:lnSpc>
            </a:pPr>
            <a:r>
              <a:rPr lang="en-US" sz="287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 stack seleccionado para este proyecto fue MySQL + PHP. Se considera la combinación tecnológica más probada, madura y documentada, lo que garantiza que para la mayoría de los problemas que se presenten, ya existirá una solución.</a:t>
            </a:r>
          </a:p>
          <a:p>
            <a:pPr algn="l">
              <a:lnSpc>
                <a:spcPts val="3910"/>
              </a:lnSpc>
            </a:pPr>
            <a:r>
              <a:rPr lang="en-US" sz="2875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Asimismo, es el stack más soportado por la mayoría de los servicios de hosting, tanto de pago como gratuitos, lo que permite un despliegue sin necesidad de configuraciones extra.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86131" y="3004967"/>
            <a:ext cx="12197105" cy="4277067"/>
            <a:chOff x="0" y="0"/>
            <a:chExt cx="8763592" cy="30730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3592" cy="3073063"/>
            </a:xfrm>
            <a:custGeom>
              <a:avLst/>
              <a:gdLst/>
              <a:ahLst/>
              <a:cxnLst/>
              <a:rect l="l" t="t" r="r" b="b"/>
              <a:pathLst>
                <a:path w="8763592" h="3073063">
                  <a:moveTo>
                    <a:pt x="0" y="0"/>
                  </a:moveTo>
                  <a:lnTo>
                    <a:pt x="8763592" y="0"/>
                  </a:lnTo>
                  <a:lnTo>
                    <a:pt x="8763592" y="3073063"/>
                  </a:lnTo>
                  <a:lnTo>
                    <a:pt x="0" y="307306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4" name="Freeform 4"/>
          <p:cNvSpPr/>
          <p:nvPr/>
        </p:nvSpPr>
        <p:spPr>
          <a:xfrm>
            <a:off x="3513924" y="3676962"/>
            <a:ext cx="11260151" cy="2933076"/>
          </a:xfrm>
          <a:custGeom>
            <a:avLst/>
            <a:gdLst/>
            <a:ahLst/>
            <a:cxnLst/>
            <a:rect l="l" t="t" r="r" b="b"/>
            <a:pathLst>
              <a:path w="11260151" h="2933076">
                <a:moveTo>
                  <a:pt x="0" y="0"/>
                </a:moveTo>
                <a:lnTo>
                  <a:pt x="11260152" y="0"/>
                </a:lnTo>
                <a:lnTo>
                  <a:pt x="11260152" y="2933076"/>
                </a:lnTo>
                <a:lnTo>
                  <a:pt x="0" y="29330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1028700" y="1047750"/>
            <a:ext cx="7031406" cy="1154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Diagrama de arquitectura {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312561" y="8357424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02870"/>
            <a:ext cx="9314578" cy="10389870"/>
            <a:chOff x="0" y="0"/>
            <a:chExt cx="3397983" cy="37902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7983" cy="3790253"/>
            </a:xfrm>
            <a:custGeom>
              <a:avLst/>
              <a:gdLst/>
              <a:ahLst/>
              <a:cxnLst/>
              <a:rect l="l" t="t" r="r" b="b"/>
              <a:pathLst>
                <a:path w="3397983" h="379025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4" name="Freeform 4"/>
          <p:cNvSpPr/>
          <p:nvPr/>
        </p:nvSpPr>
        <p:spPr>
          <a:xfrm>
            <a:off x="10353087" y="1329690"/>
            <a:ext cx="6896403" cy="6896403"/>
          </a:xfrm>
          <a:custGeom>
            <a:avLst/>
            <a:gdLst/>
            <a:ahLst/>
            <a:cxnLst/>
            <a:rect l="l" t="t" r="r" b="b"/>
            <a:pathLst>
              <a:path w="6896403" h="6896403">
                <a:moveTo>
                  <a:pt x="0" y="0"/>
                </a:moveTo>
                <a:lnTo>
                  <a:pt x="6896403" y="0"/>
                </a:lnTo>
                <a:lnTo>
                  <a:pt x="6896403" y="6896403"/>
                </a:lnTo>
                <a:lnTo>
                  <a:pt x="0" y="6896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1028700" y="1047750"/>
            <a:ext cx="703140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SQLI {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0111" y="2923413"/>
            <a:ext cx="6988679" cy="4504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Prueba SQLI: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Bypass: “ ‘OR 1=1 -- ”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Exfiltracion de datos: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1) “ ' UNION SELECT 1,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GROUP_CONCAT(user), 3 FROM </a:t>
            </a:r>
            <a:r>
              <a:rPr lang="en-US" sz="2400">
                <a:solidFill>
                  <a:srgbClr val="8C52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sesion</a:t>
            </a: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-- ”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2) “ ' UNION SELECT 1, pass, 3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FROM </a:t>
            </a:r>
            <a:r>
              <a:rPr lang="en-US" sz="2400">
                <a:solidFill>
                  <a:srgbClr val="8C52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sesion</a:t>
            </a: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WHERE user = '</a:t>
            </a:r>
            <a:r>
              <a:rPr lang="en-US" sz="2400">
                <a:solidFill>
                  <a:srgbClr val="FF0505"/>
                </a:solidFill>
                <a:latin typeface="Courier Prime"/>
                <a:ea typeface="Courier Prime"/>
                <a:cs typeface="Courier Prime"/>
                <a:sym typeface="Courier Prime"/>
              </a:rPr>
              <a:t>[usuario]</a:t>
            </a: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' -- ”</a:t>
            </a:r>
          </a:p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O el que tú gustes</a:t>
            </a:r>
          </a:p>
          <a:p>
            <a:pPr algn="l">
              <a:lnSpc>
                <a:spcPts val="3264"/>
              </a:lnSpc>
            </a:pPr>
            <a:endParaRPr lang="en-US" sz="240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algn="l">
              <a:lnSpc>
                <a:spcPts val="3264"/>
              </a:lnSpc>
            </a:pPr>
            <a:endParaRPr lang="en-US" sz="240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715698" y="897636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874385"/>
            <a:ext cx="9645542" cy="2598034"/>
            <a:chOff x="0" y="0"/>
            <a:chExt cx="3518720" cy="9477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8720" cy="947770"/>
            </a:xfrm>
            <a:custGeom>
              <a:avLst/>
              <a:gdLst/>
              <a:ahLst/>
              <a:cxnLst/>
              <a:rect l="l" t="t" r="r" b="b"/>
              <a:pathLst>
                <a:path w="3518720" h="947770">
                  <a:moveTo>
                    <a:pt x="0" y="0"/>
                  </a:moveTo>
                  <a:lnTo>
                    <a:pt x="3518720" y="0"/>
                  </a:lnTo>
                  <a:lnTo>
                    <a:pt x="3518720" y="947770"/>
                  </a:lnTo>
                  <a:lnTo>
                    <a:pt x="0" y="947770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5990459"/>
            <a:ext cx="9645542" cy="3760829"/>
            <a:chOff x="0" y="0"/>
            <a:chExt cx="3518720" cy="13719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18720" cy="1371961"/>
            </a:xfrm>
            <a:custGeom>
              <a:avLst/>
              <a:gdLst/>
              <a:ahLst/>
              <a:cxnLst/>
              <a:rect l="l" t="t" r="r" b="b"/>
              <a:pathLst>
                <a:path w="3518720" h="1371961">
                  <a:moveTo>
                    <a:pt x="0" y="0"/>
                  </a:moveTo>
                  <a:lnTo>
                    <a:pt x="3518720" y="0"/>
                  </a:lnTo>
                  <a:lnTo>
                    <a:pt x="3518720" y="1371961"/>
                  </a:lnTo>
                  <a:lnTo>
                    <a:pt x="0" y="1371961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6" name="AutoShape 6"/>
          <p:cNvSpPr/>
          <p:nvPr/>
        </p:nvSpPr>
        <p:spPr>
          <a:xfrm rot="5400000">
            <a:off x="-232217" y="4135302"/>
            <a:ext cx="2598034" cy="0"/>
          </a:xfrm>
          <a:prstGeom prst="line">
            <a:avLst/>
          </a:prstGeom>
          <a:ln w="762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7" name="AutoShape 7"/>
          <p:cNvSpPr/>
          <p:nvPr/>
        </p:nvSpPr>
        <p:spPr>
          <a:xfrm flipH="1">
            <a:off x="1066800" y="5990459"/>
            <a:ext cx="0" cy="3708142"/>
          </a:xfrm>
          <a:prstGeom prst="line">
            <a:avLst/>
          </a:prstGeom>
          <a:ln w="762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>
            <a:off x="11074292" y="4074819"/>
            <a:ext cx="6792297" cy="3831280"/>
          </a:xfrm>
          <a:custGeom>
            <a:avLst/>
            <a:gdLst/>
            <a:ahLst/>
            <a:cxnLst/>
            <a:rect l="l" t="t" r="r" b="b"/>
            <a:pathLst>
              <a:path w="6792297" h="3831280">
                <a:moveTo>
                  <a:pt x="0" y="0"/>
                </a:moveTo>
                <a:lnTo>
                  <a:pt x="6792297" y="0"/>
                </a:lnTo>
                <a:lnTo>
                  <a:pt x="6792297" y="3831280"/>
                </a:lnTo>
                <a:lnTo>
                  <a:pt x="0" y="383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TextBox 9"/>
          <p:cNvSpPr txBox="1"/>
          <p:nvPr/>
        </p:nvSpPr>
        <p:spPr>
          <a:xfrm>
            <a:off x="1028700" y="1047750"/>
            <a:ext cx="703140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SQL INJECTION {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09030" y="3146322"/>
            <a:ext cx="8524589" cy="377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¿Qué es sqli?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9030" y="6262396"/>
            <a:ext cx="8524589" cy="377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¿Como funciona el sqli?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8085" y="3505224"/>
            <a:ext cx="8524589" cy="1825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La inyección de código SQL es un ataque en el que se inserta código malintencionado en cadenas que posteriormente se pasan a una instancia del motor de base de datos de SQL Server para su análisis y ejecución.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89176" y="6621298"/>
            <a:ext cx="8524589" cy="2911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 proceso de inyección consiste en finalizar prematuramente una cadena de texto y anexar un nuevo comando. Como el comando insertado puede contener cadenas adicionales que se hayan anexado al mismo antes de su ejecución, el malhechor pone fin a la cadena inyectada con una marca de comentario --. El texto situado a continuación se omite en tiempo de ejecución.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557135" y="867537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9346" y="2574080"/>
            <a:ext cx="16058872" cy="5138839"/>
          </a:xfrm>
          <a:custGeom>
            <a:avLst/>
            <a:gdLst/>
            <a:ahLst/>
            <a:cxnLst/>
            <a:rect l="l" t="t" r="r" b="b"/>
            <a:pathLst>
              <a:path w="16058872" h="5138839">
                <a:moveTo>
                  <a:pt x="0" y="0"/>
                </a:moveTo>
                <a:lnTo>
                  <a:pt x="16058872" y="0"/>
                </a:lnTo>
                <a:lnTo>
                  <a:pt x="16058872" y="5138840"/>
                </a:lnTo>
                <a:lnTo>
                  <a:pt x="0" y="5138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>
            <a:off x="4735433" y="7140783"/>
            <a:ext cx="3046427" cy="2117517"/>
          </a:xfrm>
          <a:custGeom>
            <a:avLst/>
            <a:gdLst/>
            <a:ahLst/>
            <a:cxnLst/>
            <a:rect l="l" t="t" r="r" b="b"/>
            <a:pathLst>
              <a:path w="3046427" h="2117517">
                <a:moveTo>
                  <a:pt x="0" y="0"/>
                </a:moveTo>
                <a:lnTo>
                  <a:pt x="3046428" y="0"/>
                </a:lnTo>
                <a:lnTo>
                  <a:pt x="3046428" y="2117517"/>
                </a:lnTo>
                <a:lnTo>
                  <a:pt x="0" y="2117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8422814" y="6973092"/>
            <a:ext cx="4072690" cy="2908244"/>
          </a:xfrm>
          <a:custGeom>
            <a:avLst/>
            <a:gdLst/>
            <a:ahLst/>
            <a:cxnLst/>
            <a:rect l="l" t="t" r="r" b="b"/>
            <a:pathLst>
              <a:path w="4072690" h="2908244">
                <a:moveTo>
                  <a:pt x="0" y="0"/>
                </a:moveTo>
                <a:lnTo>
                  <a:pt x="4072690" y="0"/>
                </a:lnTo>
                <a:lnTo>
                  <a:pt x="4072690" y="2908245"/>
                </a:lnTo>
                <a:lnTo>
                  <a:pt x="0" y="2908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1028700" y="1047750"/>
            <a:ext cx="703140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Ejemplo vulnerable {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557135" y="867537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8716" y="2451159"/>
            <a:ext cx="7667477" cy="6205161"/>
            <a:chOff x="0" y="0"/>
            <a:chExt cx="3264708" cy="26420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64708" cy="2642074"/>
            </a:xfrm>
            <a:custGeom>
              <a:avLst/>
              <a:gdLst/>
              <a:ahLst/>
              <a:cxnLst/>
              <a:rect l="l" t="t" r="r" b="b"/>
              <a:pathLst>
                <a:path w="3264708" h="2642074">
                  <a:moveTo>
                    <a:pt x="0" y="0"/>
                  </a:moveTo>
                  <a:lnTo>
                    <a:pt x="3264708" y="0"/>
                  </a:lnTo>
                  <a:lnTo>
                    <a:pt x="3264708" y="2642074"/>
                  </a:lnTo>
                  <a:lnTo>
                    <a:pt x="0" y="2642074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281808" y="2451159"/>
            <a:ext cx="7667477" cy="5398348"/>
            <a:chOff x="0" y="0"/>
            <a:chExt cx="3264708" cy="22985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64708" cy="2298543"/>
            </a:xfrm>
            <a:custGeom>
              <a:avLst/>
              <a:gdLst/>
              <a:ahLst/>
              <a:cxnLst/>
              <a:rect l="l" t="t" r="r" b="b"/>
              <a:pathLst>
                <a:path w="3264708" h="2298543">
                  <a:moveTo>
                    <a:pt x="0" y="0"/>
                  </a:moveTo>
                  <a:lnTo>
                    <a:pt x="3264708" y="0"/>
                  </a:lnTo>
                  <a:lnTo>
                    <a:pt x="3264708" y="2298543"/>
                  </a:lnTo>
                  <a:lnTo>
                    <a:pt x="0" y="229854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6" name="Freeform 6"/>
          <p:cNvSpPr/>
          <p:nvPr/>
        </p:nvSpPr>
        <p:spPr>
          <a:xfrm>
            <a:off x="9769996" y="3247551"/>
            <a:ext cx="6691100" cy="3805563"/>
          </a:xfrm>
          <a:custGeom>
            <a:avLst/>
            <a:gdLst/>
            <a:ahLst/>
            <a:cxnLst/>
            <a:rect l="l" t="t" r="r" b="b"/>
            <a:pathLst>
              <a:path w="6691100" h="3805563">
                <a:moveTo>
                  <a:pt x="0" y="0"/>
                </a:moveTo>
                <a:lnTo>
                  <a:pt x="6691100" y="0"/>
                </a:lnTo>
                <a:lnTo>
                  <a:pt x="6691100" y="3805563"/>
                </a:lnTo>
                <a:lnTo>
                  <a:pt x="0" y="38055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TextBox 7"/>
          <p:cNvSpPr txBox="1"/>
          <p:nvPr/>
        </p:nvSpPr>
        <p:spPr>
          <a:xfrm>
            <a:off x="2086709" y="2890163"/>
            <a:ext cx="6261698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30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¿</a:t>
            </a:r>
            <a:r>
              <a:rPr lang="en-US" sz="30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Cómo</a:t>
            </a:r>
            <a:r>
              <a:rPr lang="en-US" sz="30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0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funciona</a:t>
            </a:r>
            <a:r>
              <a:rPr lang="en-US" sz="30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86709" y="3461843"/>
            <a:ext cx="6261698" cy="599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6"/>
              </a:lnSpc>
            </a:pPr>
            <a:r>
              <a:rPr lang="en-US" sz="1800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Divide la interacción en tres fases importantes: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86709" y="4184981"/>
            <a:ext cx="6261698" cy="3037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466"/>
              </a:lnSpc>
              <a:buFont typeface="Arial"/>
              <a:buChar char="•"/>
            </a:pPr>
            <a:r>
              <a:rPr lang="en-US" sz="1800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Preparar el “Molde” en el cual le dices a la base de datos que </a:t>
            </a:r>
            <a:r>
              <a:rPr lang="en-US" sz="1800" b="1">
                <a:solidFill>
                  <a:srgbClr val="FF0505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SELECT * FROM usuarios WHERE nombre = ? AND pass = ?</a:t>
            </a:r>
          </a:p>
          <a:p>
            <a:pPr marL="388620" lvl="1" indent="-194310" algn="l">
              <a:lnSpc>
                <a:spcPts val="2466"/>
              </a:lnSpc>
              <a:buFont typeface="Arial"/>
              <a:buChar char="•"/>
            </a:pPr>
            <a:r>
              <a:rPr lang="en-US" sz="1800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Vincular los datos obtenidos por el usuario y asociarlos en su respetivo (?) especificando que tipo de valor es </a:t>
            </a:r>
            <a:r>
              <a:rPr lang="en-US" sz="1800" b="1">
                <a:solidFill>
                  <a:srgbClr val="FF0505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“s,i,b,n”</a:t>
            </a:r>
          </a:p>
          <a:p>
            <a:pPr marL="388620" lvl="1" indent="-194310" algn="l">
              <a:lnSpc>
                <a:spcPts val="2466"/>
              </a:lnSpc>
              <a:buFont typeface="Arial"/>
              <a:buChar char="•"/>
            </a:pPr>
            <a:r>
              <a:rPr lang="en-US" sz="1800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Ejecutar el query uniendo los datos de el usuario tratados estrictamente como la variable indicada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047750"/>
            <a:ext cx="703140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Prepared Statements {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57135" y="867537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02870"/>
            <a:ext cx="9314578" cy="10389870"/>
            <a:chOff x="0" y="0"/>
            <a:chExt cx="3397983" cy="37902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7983" cy="3790253"/>
            </a:xfrm>
            <a:custGeom>
              <a:avLst/>
              <a:gdLst/>
              <a:ahLst/>
              <a:cxnLst/>
              <a:rect l="l" t="t" r="r" b="b"/>
              <a:pathLst>
                <a:path w="3397983" h="379025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4" name="Freeform 4"/>
          <p:cNvSpPr/>
          <p:nvPr/>
        </p:nvSpPr>
        <p:spPr>
          <a:xfrm>
            <a:off x="9467432" y="2372570"/>
            <a:ext cx="8667714" cy="5438990"/>
          </a:xfrm>
          <a:custGeom>
            <a:avLst/>
            <a:gdLst/>
            <a:ahLst/>
            <a:cxnLst/>
            <a:rect l="l" t="t" r="r" b="b"/>
            <a:pathLst>
              <a:path w="8667714" h="5438990">
                <a:moveTo>
                  <a:pt x="0" y="0"/>
                </a:moveTo>
                <a:lnTo>
                  <a:pt x="8667714" y="0"/>
                </a:lnTo>
                <a:lnTo>
                  <a:pt x="8667714" y="5438990"/>
                </a:lnTo>
                <a:lnTo>
                  <a:pt x="0" y="5438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Freeform 5"/>
          <p:cNvSpPr/>
          <p:nvPr/>
        </p:nvSpPr>
        <p:spPr>
          <a:xfrm>
            <a:off x="783952" y="7079397"/>
            <a:ext cx="7276153" cy="1464326"/>
          </a:xfrm>
          <a:custGeom>
            <a:avLst/>
            <a:gdLst/>
            <a:ahLst/>
            <a:cxnLst/>
            <a:rect l="l" t="t" r="r" b="b"/>
            <a:pathLst>
              <a:path w="7276153" h="1464326">
                <a:moveTo>
                  <a:pt x="0" y="0"/>
                </a:moveTo>
                <a:lnTo>
                  <a:pt x="7276154" y="0"/>
                </a:lnTo>
                <a:lnTo>
                  <a:pt x="7276154" y="1464326"/>
                </a:lnTo>
                <a:lnTo>
                  <a:pt x="0" y="1464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TextBox 6"/>
          <p:cNvSpPr txBox="1"/>
          <p:nvPr/>
        </p:nvSpPr>
        <p:spPr>
          <a:xfrm>
            <a:off x="1028700" y="1047750"/>
            <a:ext cx="703140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¿Por qué es segura? {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6164" y="2144541"/>
            <a:ext cx="6988679" cy="408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Funciona por dos cosas: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557135" y="867537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6164" y="2524398"/>
            <a:ext cx="6261698" cy="364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466"/>
              </a:lnSpc>
              <a:buFont typeface="Arial"/>
              <a:buChar char="•"/>
            </a:pPr>
            <a:r>
              <a:rPr lang="en-US" sz="1800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Prepared statements: En el apartado password_hash de la tabla sesion, busca un user; agarra el “user” dado por el usuario y lo trata estrictamente como un string; si encontraste algun usuario = user, verifica que la contraseña dada por el usuario sea igual a la password_hash.</a:t>
            </a:r>
          </a:p>
          <a:p>
            <a:pPr marL="388620" lvl="1" indent="-194310" algn="l">
              <a:lnSpc>
                <a:spcPts val="2466"/>
              </a:lnSpc>
              <a:buFont typeface="Arial"/>
              <a:buChar char="•"/>
            </a:pPr>
            <a:r>
              <a:rPr lang="en-US" sz="1800" b="1">
                <a:solidFill>
                  <a:srgbClr val="FFFFFF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Password_hash: Es una funcion nativa de PHP, lo que hace es encriptar la contraseña dada por el usuario mediante el método de encriptación más actual que tenga php.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47750"/>
            <a:ext cx="7031406" cy="1154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Prueba las bases de datos {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557135" y="8675370"/>
            <a:ext cx="702165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0843" y="5242302"/>
            <a:ext cx="4586314" cy="897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Usuario: Alex</a:t>
            </a:r>
          </a:p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Contraseña: Rivas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05404" y="3794565"/>
            <a:ext cx="4077192" cy="847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Credenciales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102870"/>
            <a:ext cx="9314578" cy="10389870"/>
            <a:chOff x="0" y="0"/>
            <a:chExt cx="3397983" cy="37902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7983" cy="3790253"/>
            </a:xfrm>
            <a:custGeom>
              <a:avLst/>
              <a:gdLst/>
              <a:ahLst/>
              <a:cxnLst/>
              <a:rect l="l" t="t" r="r" b="b"/>
              <a:pathLst>
                <a:path w="3397983" h="379025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4" name="Freeform 4"/>
          <p:cNvSpPr/>
          <p:nvPr/>
        </p:nvSpPr>
        <p:spPr>
          <a:xfrm>
            <a:off x="10402137" y="2171166"/>
            <a:ext cx="6857163" cy="6857163"/>
          </a:xfrm>
          <a:custGeom>
            <a:avLst/>
            <a:gdLst/>
            <a:ahLst/>
            <a:cxnLst/>
            <a:rect l="l" t="t" r="r" b="b"/>
            <a:pathLst>
              <a:path w="6857163" h="6857163">
                <a:moveTo>
                  <a:pt x="0" y="0"/>
                </a:moveTo>
                <a:lnTo>
                  <a:pt x="6857163" y="0"/>
                </a:lnTo>
                <a:lnTo>
                  <a:pt x="6857163" y="6857163"/>
                </a:lnTo>
                <a:lnTo>
                  <a:pt x="0" y="6857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2156332" y="4706303"/>
            <a:ext cx="5179073" cy="893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6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Repositorio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-2839732" y="3931089"/>
            <a:ext cx="8741551" cy="0"/>
          </a:xfrm>
          <a:prstGeom prst="line">
            <a:avLst/>
          </a:prstGeom>
          <a:ln w="95250" cap="flat">
            <a:solidFill>
              <a:srgbClr val="2D2D3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2537186" y="3245316"/>
            <a:ext cx="10718760" cy="132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97"/>
              </a:lnSpc>
            </a:pPr>
            <a:r>
              <a:rPr lang="en-US" sz="912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Gracias {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415791" y="6536903"/>
            <a:ext cx="2471972" cy="1607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77"/>
              </a:lnSpc>
            </a:pPr>
            <a:r>
              <a:rPr lang="en-US" sz="10944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78912" y="5236577"/>
            <a:ext cx="10747189" cy="787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4"/>
              </a:lnSpc>
            </a:pPr>
            <a:r>
              <a:rPr lang="en-US" sz="45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&lt;Por="Alexander Rivas"/&gt;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94891" y="2085555"/>
            <a:ext cx="11259224" cy="474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736">
                <a:solidFill>
                  <a:srgbClr val="8F8F8F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&lt;!--Base de Datos--&gt;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0489" y="403191"/>
            <a:ext cx="5536321" cy="893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6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Bibliografia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15370" y="1886267"/>
            <a:ext cx="16083841" cy="611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¿Qué es una pila LAMP? - Explicación de la pila LAMP - AWS. (n.d.). Amazon Web Services, Inc. https://aws.amazon.com/what-is/lamp-stack/</a:t>
            </a:r>
          </a:p>
          <a:p>
            <a:pPr algn="l">
              <a:lnSpc>
                <a:spcPts val="5460"/>
              </a:lnSpc>
            </a:pPr>
            <a:r>
              <a:rPr lang="en-US" sz="3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VanMSFT. (n.d.). Inyección de código SQL - SQL Server. Microsoft Learn. https://learn.microsoft.com/es-es/sql/relational-databases/security/sql-injection?view=sql-server-ver17</a:t>
            </a:r>
          </a:p>
          <a:p>
            <a:pPr algn="l">
              <a:lnSpc>
                <a:spcPts val="5460"/>
              </a:lnSpc>
            </a:pPr>
            <a:r>
              <a:rPr lang="en-US" sz="3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W3Schools.com. (n.d.). https://www.w3schools.com/php/php_mysql_prepared_statements.asp</a:t>
            </a:r>
          </a:p>
          <a:p>
            <a:pPr algn="l">
              <a:lnSpc>
                <a:spcPts val="5460"/>
              </a:lnSpc>
            </a:pPr>
            <a:endParaRPr lang="en-US" sz="300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algn="l">
              <a:lnSpc>
                <a:spcPts val="5460"/>
              </a:lnSpc>
            </a:pPr>
            <a:endParaRPr lang="en-US" sz="300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-1074894" y="1886267"/>
            <a:ext cx="2149789" cy="5431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460"/>
              </a:lnSpc>
            </a:pPr>
            <a:r>
              <a:rPr lang="en-US" sz="30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01</a:t>
            </a:r>
          </a:p>
          <a:p>
            <a:pPr algn="r">
              <a:lnSpc>
                <a:spcPts val="5460"/>
              </a:lnSpc>
            </a:pPr>
            <a:endParaRPr lang="en-US" sz="3000">
              <a:solidFill>
                <a:srgbClr val="FF914D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algn="r">
              <a:lnSpc>
                <a:spcPts val="5460"/>
              </a:lnSpc>
            </a:pPr>
            <a:r>
              <a:rPr lang="en-US" sz="30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02</a:t>
            </a:r>
          </a:p>
          <a:p>
            <a:pPr algn="r">
              <a:lnSpc>
                <a:spcPts val="5460"/>
              </a:lnSpc>
            </a:pPr>
            <a:endParaRPr lang="en-US" sz="3000">
              <a:solidFill>
                <a:srgbClr val="FF914D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algn="r">
              <a:lnSpc>
                <a:spcPts val="5460"/>
              </a:lnSpc>
            </a:pPr>
            <a:endParaRPr lang="en-US" sz="3000">
              <a:solidFill>
                <a:srgbClr val="FF914D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algn="r">
              <a:lnSpc>
                <a:spcPts val="5460"/>
              </a:lnSpc>
            </a:pPr>
            <a:r>
              <a:rPr lang="en-US" sz="300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03</a:t>
            </a:r>
          </a:p>
          <a:p>
            <a:pPr algn="r">
              <a:lnSpc>
                <a:spcPts val="5460"/>
              </a:lnSpc>
            </a:pPr>
            <a:endParaRPr lang="en-US" sz="3000">
              <a:solidFill>
                <a:srgbClr val="FF914D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algn="r">
              <a:lnSpc>
                <a:spcPts val="5460"/>
              </a:lnSpc>
            </a:pPr>
            <a:endParaRPr lang="en-US" sz="3000">
              <a:solidFill>
                <a:srgbClr val="FF914D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1116</Words>
  <Application>Microsoft Office PowerPoint</Application>
  <PresentationFormat>Personalizado</PresentationFormat>
  <Paragraphs>95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Courier Prime</vt:lpstr>
      <vt:lpstr>Calibri</vt:lpstr>
      <vt:lpstr>Courier Prime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Técnica Código Programación Minimalista Gris</dc:title>
  <cp:lastModifiedBy>David Alexander Rivas Sanchez</cp:lastModifiedBy>
  <cp:revision>5</cp:revision>
  <dcterms:created xsi:type="dcterms:W3CDTF">2006-08-16T00:00:00Z</dcterms:created>
  <dcterms:modified xsi:type="dcterms:W3CDTF">2025-11-20T00:35:55Z</dcterms:modified>
  <dc:identifier>DAG4pT-BmY4</dc:identifier>
</cp:coreProperties>
</file>